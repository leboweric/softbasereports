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4236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BENNETT MATERIAL HANDLING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Business Review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Name]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0" y="3383280"/>
            <a:ext cx="3657600" cy="457200"/>
          </a:xfrm>
          <a:prstGeom prst="roundRect">
            <a:avLst/>
          </a:prstGeom>
          <a:solidFill>
            <a:srgbClr val="3D3D3D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Q[X] [Year] • [Meeting Date]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Minnesota's Premier Linde Dealer Since 1965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64008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&amp; Check-In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7160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4023360" cy="64008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920240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9476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19202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Health Dashboard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1488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4023360" cy="64008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7249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26974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Performance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2926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337560"/>
            <a:ext cx="4023360" cy="64008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50215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347472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&amp; Rental Activity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370332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023360" cy="64008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46320" y="1143000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46320" y="11704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114300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&amp; ROI Summary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137160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783080"/>
            <a:ext cx="4023360" cy="64008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846320" y="1920240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46320" y="19476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303520" y="192024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03520" y="214884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560320"/>
            <a:ext cx="4023360" cy="64008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846320" y="2697480"/>
            <a:ext cx="365760" cy="36576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846320" y="272491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03520" y="26974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 &amp; Next Steps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03520" y="292608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min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4114800"/>
            <a:ext cx="4023360" cy="457200"/>
          </a:xfrm>
          <a:prstGeom prst="round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54880" y="4133088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~50 minutes + Q&amp;A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6576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Bennett Material Handling | QBR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321040" y="4663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Business Priorities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matters most to your operation this quarter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on our conversations, here's what we understand about your key focus areas: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651760" cy="2011680"/>
          </a:xfrm>
          <a:prstGeom prst="rect">
            <a:avLst/>
          </a:prstGeom>
          <a:solidFill>
            <a:srgbClr val="F8F8F8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[Priority Title]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[Brief description of what matters to this customer and why]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280160"/>
            <a:ext cx="2651760" cy="2011680"/>
          </a:xfrm>
          <a:prstGeom prst="rect">
            <a:avLst/>
          </a:prstGeom>
          <a:solidFill>
            <a:srgbClr val="F8F8F8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337560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[Priority Title]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37560" y="20116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[Brief description of what matters to this customer and why]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651760" cy="2011680"/>
          </a:xfrm>
          <a:prstGeom prst="rect">
            <a:avLst/>
          </a:prstGeom>
          <a:solidFill>
            <a:srgbClr val="F8F8F8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72200" y="13716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172200" y="16459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[Priority Title]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20116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[Brief description of what matters to this customer and why]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520440"/>
            <a:ext cx="8412480" cy="822960"/>
          </a:xfrm>
          <a:prstGeom prst="round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anything changed since we last met?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initiatives, staffing changes, seasonal demands, or challenges we should know about?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Bennett Material Handling | QBR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21040" y="4663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equipment inventory at a glance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91440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Units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868680" cy="64008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214884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246888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325880" y="2103120"/>
            <a:ext cx="868680" cy="64008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325880" y="214884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246888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Leased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286000" y="2103120"/>
            <a:ext cx="868680" cy="64008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86000" y="2148840"/>
            <a:ext cx="868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286000" y="2468880"/>
            <a:ext cx="868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2743200" cy="1463040"/>
          </a:xfrm>
          <a:prstGeom prst="round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2920" y="3017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Mix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" y="32918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Sit-down Counterbalance: [##]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493008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Reach Trucks: [##]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3694176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Pallet Jacks: [##]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3895344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Order Pickers: [##]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4096512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Other: [##]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91840" y="1005840"/>
            <a:ext cx="5486400" cy="338328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C8102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29184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CHART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291840" y="27432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inventory table or chart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6576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Bennett Material Handling | QBR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321040" y="4663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Health Dashboard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age, condition, and utilization status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868680"/>
            <a:ext cx="137160" cy="137160"/>
          </a:xfrm>
          <a:prstGeom prst="round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85039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45920" y="868680"/>
            <a:ext cx="137160" cy="137160"/>
          </a:xfrm>
          <a:prstGeom prst="round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85039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0" y="868680"/>
            <a:ext cx="137160" cy="137160"/>
          </a:xfrm>
          <a:prstGeom prst="round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926080" y="850392"/>
            <a:ext cx="731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1143000"/>
            <a:ext cx="2560320" cy="685800"/>
          </a:xfrm>
          <a:prstGeom prst="round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234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554480" y="13258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Condition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1920240"/>
            <a:ext cx="2560320" cy="685800"/>
          </a:xfrm>
          <a:prstGeom prst="round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011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54480" y="210312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/ Plan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2560320" cy="685800"/>
          </a:xfrm>
          <a:prstGeom prst="round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7889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554480" y="28803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Soon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2560320" cy="73152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6576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FLEET AGE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7200" y="3840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 years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108960" y="1143000"/>
            <a:ext cx="5669280" cy="32004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C8102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108960" y="23774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CHART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08960" y="27432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age breakdown chart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Bennett Material Handling | QBR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321040" y="4663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Performance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Q[X] service activity and response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011680" cy="100584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9601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CALLS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Quarter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914400"/>
            <a:ext cx="2011680" cy="100584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9601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COMPLETION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60320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[##]%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16002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Schedule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2011680" cy="100584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9601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RESPONSE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0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B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[X.X]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754880" y="16002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949440" y="914400"/>
            <a:ext cx="2011680" cy="100584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49440" y="96012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FIRST-TIME FIX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949440" y="11430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[##]%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949440" y="160020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Rate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1031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Type Breakdown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377440"/>
            <a:ext cx="2743200" cy="182880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2920" y="25146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Maintenance: [##]%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2743200"/>
            <a:ext cx="2468880" cy="137160"/>
          </a:xfrm>
          <a:prstGeom prst="round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02920" y="2743200"/>
            <a:ext cx="1371600" cy="137160"/>
          </a:xfrm>
          <a:prstGeom prst="round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" y="30175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Unplanned Repairs: [##]%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3246120"/>
            <a:ext cx="2468880" cy="137160"/>
          </a:xfrm>
          <a:prstGeom prst="round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02920" y="3246120"/>
            <a:ext cx="1371600" cy="137160"/>
          </a:xfrm>
          <a:prstGeom prst="round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2920" y="3520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Damage/Accidents: [##]%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2920" y="3749040"/>
            <a:ext cx="2468880" cy="137160"/>
          </a:xfrm>
          <a:prstGeom prst="round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02920" y="3749040"/>
            <a:ext cx="1371600" cy="137160"/>
          </a:xfrm>
          <a:prstGeom prst="round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291840" y="21031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Calls Trend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91840" y="2377440"/>
            <a:ext cx="5486400" cy="18288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C8102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291840" y="30175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CHART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291840" y="33832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calls by month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Bennett Material Handling | QBR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321040" y="4663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Cost Analysis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your maintenance dollars are going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926080" cy="822960"/>
          </a:xfrm>
          <a:prstGeom prst="round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SERVICE SPEND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$[XX,XXX]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02920" y="1463040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Quarter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2926080" cy="237744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920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by Category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286000"/>
            <a:ext cx="26517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2286000"/>
            <a:ext cx="91440" cy="50292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30428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 Maintenance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51460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 services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31720" y="2377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$[X,XXX]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926080"/>
            <a:ext cx="26517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02920" y="2926080"/>
            <a:ext cx="91440" cy="502920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5800" y="294436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Unplanned Repairs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" y="31546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 services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331720" y="3017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C1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$[X,XXX]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3566160"/>
            <a:ext cx="265176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3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02920" y="3566160"/>
            <a:ext cx="91440" cy="502920"/>
          </a:xfrm>
          <a:prstGeom prst="rect">
            <a:avLst/>
          </a:prstGeom>
          <a:solidFill>
            <a:srgbClr val="DC35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" y="35844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Damage/Accidents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" y="37947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 incidents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331720" y="36576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$[X,XXX]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74720" y="9144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Trend Over Time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0" y="1188720"/>
            <a:ext cx="5303520" cy="301752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C8102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74720" y="23774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CHART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74720" y="274320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cost comparison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Bennett Material Handling | QBR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321040" y="4663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&amp; Rental Activity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Q[X] parts orders and rental utilization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91440" cy="27432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280160"/>
            <a:ext cx="1920240" cy="64008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77440" y="1280160"/>
            <a:ext cx="1920240" cy="64008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37744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$[X,XXX]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377440" y="16642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3931920" cy="14630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C8102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2514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CHART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74320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parts categories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91440" cy="274320"/>
          </a:xfrm>
          <a:prstGeom prst="rect">
            <a:avLst/>
          </a:prstGeom>
          <a:solidFill>
            <a:srgbClr val="2B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914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280160"/>
            <a:ext cx="1920240" cy="64008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75488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B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54880" y="16642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Rentals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766560" y="1280160"/>
            <a:ext cx="1920240" cy="64008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66560" y="13258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766560" y="1664208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 Days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011680"/>
            <a:ext cx="4023360" cy="14630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2B5F8A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251460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B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CHART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0" y="2743200"/>
            <a:ext cx="4023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 usage trends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611880"/>
            <a:ext cx="3931920" cy="68580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657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" y="3886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[Notes about parts patterns]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3611880"/>
            <a:ext cx="4023360" cy="68580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36576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Observations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92040" y="38862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[Notes about rental patterns]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Bennett Material Handling | QBR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321040" y="4663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Delivered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 of our partnership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43200" cy="1188720"/>
          </a:xfrm>
          <a:prstGeom prst="round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SAVINGS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$[XX,XXX]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reactive-only maintenance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914400"/>
            <a:ext cx="2743200" cy="1188720"/>
          </a:xfrm>
          <a:prstGeom prst="roundRect">
            <a:avLst/>
          </a:prstGeom>
          <a:solidFill>
            <a:srgbClr val="2B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0" y="1005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UPTIME ACHIEVED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91840" y="1234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[##.#]%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291840" y="1737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availability this quarter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217920" y="914400"/>
            <a:ext cx="2743200" cy="1188720"/>
          </a:xfrm>
          <a:prstGeom prst="round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217920" y="1005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DOWNTIME AVOIDED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0" y="12344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[##]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217920" y="17373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Hours of prevented outages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2860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Spend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2926080" cy="169164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2697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&amp; Labor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48840" y="269748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$[XX,XXX]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3017520"/>
            <a:ext cx="26517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2920" y="3063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48840" y="30632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$[XX,XXX]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383280"/>
            <a:ext cx="26517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3429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Rentals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148840" y="342900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$[XX,XXX]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3749040"/>
            <a:ext cx="265176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2920" y="3794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Q[X] Spend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48840" y="37947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$[XX,XXX]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0" y="22860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Trend (Rolling 4 Quarters)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0" y="2606040"/>
            <a:ext cx="5303520" cy="169164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C8102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474720" y="32004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CHART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0" y="3566160"/>
            <a:ext cx="5303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spend comparison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6576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Bennett Material Handling | QBR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8321040" y="4663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Opportunities to optimize your fleet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2743200" cy="219456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914400"/>
            <a:ext cx="109728" cy="219456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051560"/>
            <a:ext cx="320040" cy="320040"/>
          </a:xfrm>
          <a:prstGeom prst="ellipse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06984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0789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REFRESH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[Recommendation Title]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1828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[Description of the recommendation and expected benefit]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7432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Impact: [$$$ or benefit]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46120" y="914400"/>
            <a:ext cx="2743200" cy="219456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2B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246120" y="914400"/>
            <a:ext cx="109728" cy="2194560"/>
          </a:xfrm>
          <a:prstGeom prst="rect">
            <a:avLst/>
          </a:prstGeom>
          <a:solidFill>
            <a:srgbClr val="2B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429000" y="1051560"/>
            <a:ext cx="320040" cy="320040"/>
          </a:xfrm>
          <a:prstGeom prst="ellipse">
            <a:avLst/>
          </a:prstGeom>
          <a:solidFill>
            <a:srgbClr val="2B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29000" y="106984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94760" y="10789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TRAINING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[Recommendation Title]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29000" y="1828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[Description of the recommendation and expected benefit]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29000" y="27432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Impact: [$$$ or benefit]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26480" y="914400"/>
            <a:ext cx="2743200" cy="219456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126480" y="914400"/>
            <a:ext cx="109728" cy="2194560"/>
          </a:xfrm>
          <a:prstGeom prst="rect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309360" y="1051560"/>
            <a:ext cx="320040" cy="320040"/>
          </a:xfrm>
          <a:prstGeom prst="ellipse">
            <a:avLst/>
          </a:prstGeom>
          <a:solidFill>
            <a:srgbClr val="28A74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309360" y="106984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675120" y="107899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9360" y="14630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[Recommendation Title]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18288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[Description of the recommendation and expected benefit]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309360" y="274320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Impact: [$$$ or benefit]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291840"/>
            <a:ext cx="8412480" cy="914400"/>
          </a:xfrm>
          <a:prstGeom prst="round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3383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Additional Opportunities to Explore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8640" y="370332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[Opportunity 1]        •  [Opportunity 2]        •  [Opportunity 3]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Bennett Material Handling | QBR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8321040" y="4663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Insights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Trends and innovations in material handling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206240" cy="1188720"/>
          </a:xfrm>
          <a:prstGeom prst="round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00584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LINDE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[New Product or Feature]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002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[Brief description of new Linde equipment, technology, or service]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118872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0058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TREND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80060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[Relevant Industry Development]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00600" y="16002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[Brief description of industry trend relevant to their operation]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286000"/>
            <a:ext cx="2743200" cy="118872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02920" y="2377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ELECTRIFICATION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651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[Note about this trend and how it applies to customer]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46120" y="2286000"/>
            <a:ext cx="2743200" cy="118872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2B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2377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B5F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83280" y="2651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[Note about this trend and how it applies to customer]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2286000"/>
            <a:ext cx="2743200" cy="118872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640" y="2377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&amp; COMPLIANCE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265176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[Note about this trend and how it applies to customer]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65760" y="3657600"/>
            <a:ext cx="8412480" cy="640080"/>
          </a:xfrm>
          <a:prstGeom prst="roundRect">
            <a:avLst/>
          </a:prstGeom>
          <a:solidFill>
            <a:srgbClr val="FFF0F0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to learn more? We'd be happy to schedule a demo or site assessment.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Bennett Material Handling | QBR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321040" y="4663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Items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Committed next steps from today's discussion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109728" cy="32004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Bennett Material Handling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114800" cy="256032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1463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1]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6916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[Name] | Due: [Date]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2057400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2960" y="205740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2]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2860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[Name] | Due: [Date]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02920" y="2651760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2651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3]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28803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[Name] | Due: [Date]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02920" y="3246120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32461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4]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4747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[Name] | Due: [Date]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663440" y="914400"/>
            <a:ext cx="109728" cy="320040"/>
          </a:xfrm>
          <a:prstGeom prst="rect">
            <a:avLst/>
          </a:prstGeom>
          <a:solidFill>
            <a:srgbClr val="2B5F8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914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[Customer Name]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63440" y="1325880"/>
            <a:ext cx="4114800" cy="1783080"/>
          </a:xfrm>
          <a:prstGeom prst="roundRect">
            <a:avLst/>
          </a:prstGeom>
          <a:solidFill>
            <a:srgbClr val="F8F8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00600" y="1463040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120640" y="146304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1]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20640" y="169164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[Name] | Due: [Date]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00600" y="2011680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120640" y="201168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2]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20640" y="224028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[Name] | Due: [Date]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00600" y="2560320"/>
            <a:ext cx="228600" cy="228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5F8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20640" y="256032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[Action Item 3]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0" y="278892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[Name] | Due: [Date]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663440" y="3246120"/>
            <a:ext cx="4114800" cy="640080"/>
          </a:xfrm>
          <a:prstGeom prst="round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800600" y="32918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QBR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34747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[Date] at [Time]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5760" y="46634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</a:rPr>
              <a:t>Bennett Material Handling | QBR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8321040" y="4663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DISCUSSION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discuss anything on your mind — challenges, opportunities, or ideas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how we can better support your operation.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383280"/>
            <a:ext cx="2011680" cy="457200"/>
          </a:xfrm>
          <a:prstGeom prst="roundRect">
            <a:avLst/>
          </a:prstGeom>
          <a:solidFill>
            <a:srgbClr val="3D3D3D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7160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Upcoming changes?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3383280"/>
            <a:ext cx="2011680" cy="457200"/>
          </a:xfrm>
          <a:prstGeom prst="roundRect">
            <a:avLst/>
          </a:prstGeom>
          <a:solidFill>
            <a:srgbClr val="3D3D3D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feedback?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3383280"/>
            <a:ext cx="2011680" cy="457200"/>
          </a:xfrm>
          <a:prstGeom prst="roundRect">
            <a:avLst/>
          </a:prstGeom>
          <a:solidFill>
            <a:srgbClr val="3D3D3D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943600" y="34290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needs?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21040" y="4663440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66666"/>
                </a:solidFill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807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BENNETT MATERIAL HANDLING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appreciate your partnership.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4400" y="2743200"/>
            <a:ext cx="2377440" cy="1188720"/>
          </a:xfrm>
          <a:prstGeom prst="roundRect">
            <a:avLst/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" y="28346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ACCOUNT MANAGER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3063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[Name]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3375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[email@bmhmn.com]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5204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[Phone]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0" y="2743200"/>
            <a:ext cx="2377440" cy="1188720"/>
          </a:xfrm>
          <a:prstGeom prst="roundRect">
            <a:avLst/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66160" y="28346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DISPATCH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566160" y="3063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24/7 Support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66160" y="33375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service@bmhmn.com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0" y="35204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[Phone]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2743200"/>
            <a:ext cx="2377440" cy="1188720"/>
          </a:xfrm>
          <a:prstGeom prst="roundRect">
            <a:avLst/>
          </a:prstGeom>
          <a:solidFill>
            <a:srgbClr val="2D2D2D"/>
          </a:solidFill>
          <a:ln w="12700">
            <a:solidFill>
              <a:srgbClr val="44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26480" y="28346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126480" y="30632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Delivery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26480" y="333756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parts@bmhmn.com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3520440"/>
            <a:ext cx="21945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[Phone]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bmhmn.com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Minnesota's Premier Linde Dealer Since 1965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1039</Words>
  <Application>Microsoft Macintosh PowerPoint</Application>
  <PresentationFormat>On-screen Show (16:9)</PresentationFormat>
  <Paragraphs>272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Bennett Material Handling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Bennett Material Handling - Quarterly Business Review</dc:title>
  <dc:subject>Quarterly Business Review Template</dc:subject>
  <dc:creator>Bennett Material Handling</dc:creator>
  <cp:lastModifiedBy>Eric LeBow</cp:lastModifiedBy>
  <cp:revision>1</cp:revision>
  <dcterms:created xsi:type="dcterms:W3CDTF">2025-11-29T15:31:57Z</dcterms:created>
  <dcterms:modified xsi:type="dcterms:W3CDTF">2025-12-01T17:56:39Z</dcterms:modified>
</cp:coreProperties>
</file>